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</p:sldMasterIdLst>
  <p:notesMasterIdLst>
    <p:notesMasterId r:id="rId23"/>
  </p:notesMasterIdLst>
  <p:sldIdLst>
    <p:sldId id="256" r:id="rId5"/>
    <p:sldId id="267" r:id="rId6"/>
    <p:sldId id="279" r:id="rId7"/>
    <p:sldId id="268" r:id="rId8"/>
    <p:sldId id="259" r:id="rId9"/>
    <p:sldId id="265" r:id="rId10"/>
    <p:sldId id="272" r:id="rId11"/>
    <p:sldId id="273" r:id="rId12"/>
    <p:sldId id="274" r:id="rId13"/>
    <p:sldId id="261" r:id="rId14"/>
    <p:sldId id="275" r:id="rId15"/>
    <p:sldId id="276" r:id="rId16"/>
    <p:sldId id="278" r:id="rId17"/>
    <p:sldId id="269" r:id="rId18"/>
    <p:sldId id="280" r:id="rId19"/>
    <p:sldId id="271" r:id="rId20"/>
    <p:sldId id="270" r:id="rId21"/>
    <p:sldId id="263" r:id="rId22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000"/>
    <a:srgbClr val="E40616"/>
    <a:srgbClr val="E00616"/>
    <a:srgbClr val="E80616"/>
    <a:srgbClr val="EC0616"/>
    <a:srgbClr val="F00617"/>
    <a:srgbClr val="F80617"/>
    <a:srgbClr val="F90F20"/>
    <a:srgbClr val="CF0513"/>
    <a:srgbClr val="839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2" autoAdjust="0"/>
    <p:restoredTop sz="92544" autoAdjust="0"/>
  </p:normalViewPr>
  <p:slideViewPr>
    <p:cSldViewPr>
      <p:cViewPr varScale="1">
        <p:scale>
          <a:sx n="76" d="100"/>
          <a:sy n="76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EE8AF-4149-4F65-8389-C470D56E228D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F638F-BDAE-4F49-9974-253F556C4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13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F638F-BDAE-4F49-9974-253F556C4D2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499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132302"/>
            <a:ext cx="1728192" cy="323716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24936" cy="634082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51520" y="1052736"/>
            <a:ext cx="8424936" cy="5688632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352928" cy="63408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51520" y="1089248"/>
            <a:ext cx="4104456" cy="56521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0" y="1124744"/>
            <a:ext cx="3996000" cy="5616624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3050"/>
            <a:ext cx="8352928" cy="63567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296232" y="1917224"/>
            <a:ext cx="3996000" cy="468012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08448" y="1917224"/>
            <a:ext cx="3996000" cy="4680128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296232" y="1124744"/>
            <a:ext cx="39960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579873" y="1124744"/>
            <a:ext cx="39960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1152" y="116632"/>
            <a:ext cx="4896544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179512" y="274320"/>
            <a:ext cx="5764088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rtlCol="0"/>
          <a:lstStyle/>
          <a:p>
            <a:fld id="{4766D9E0-B132-41DB-932E-1D14B53C014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rtlCol="0"/>
          <a:lstStyle/>
          <a:p>
            <a:fld id="{48795ED6-9C17-4E75-9D95-AD63D7DDD169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rtlCol="0"/>
          <a:lstStyle/>
          <a:p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rtlCol="0"/>
          <a:lstStyle/>
          <a:p>
            <a:fld id="{4766D9E0-B132-41DB-932E-1D14B53C014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rtlCol="0"/>
          <a:lstStyle/>
          <a:p>
            <a:fld id="{48795ED6-9C17-4E75-9D95-AD63D7DDD169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rtlCol="0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352928" cy="63408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520" y="1124744"/>
            <a:ext cx="8352928" cy="5544616"/>
          </a:xfrm>
        </p:spPr>
        <p:txBody>
          <a:bodyPr vert="eaVert"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316360" cy="633670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504" y="274638"/>
            <a:ext cx="6984776" cy="6322714"/>
          </a:xfrm>
          <a:solidFill>
            <a:schemeClr val="bg1"/>
          </a:solidFill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352928" cy="63408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51520" y="1124744"/>
            <a:ext cx="8352928" cy="561662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 hidden="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51520" y="260648"/>
            <a:ext cx="0" cy="936104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rot="5400000">
            <a:off x="2267504" y="-1251278"/>
            <a:ext cx="0" cy="432000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7704" y="3501008"/>
            <a:ext cx="6883644" cy="1440160"/>
          </a:xfrm>
        </p:spPr>
        <p:txBody>
          <a:bodyPr anchor="ctr">
            <a:normAutofit fontScale="90000"/>
          </a:bodyPr>
          <a:lstStyle/>
          <a:p>
            <a:r>
              <a:rPr lang="en-GB" sz="3200" noProof="0" dirty="0"/>
              <a:t>3D Printing Parameter Optimisation: Impact of K-Value on Carbon-Reinforced PETG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7704" y="5661248"/>
            <a:ext cx="6696744" cy="1008112"/>
          </a:xfrm>
        </p:spPr>
        <p:txBody>
          <a:bodyPr>
            <a:normAutofit/>
          </a:bodyPr>
          <a:lstStyle/>
          <a:p>
            <a:r>
              <a:rPr lang="en-GB" sz="2400" noProof="0" dirty="0">
                <a:solidFill>
                  <a:schemeClr val="bg2">
                    <a:lumMod val="50000"/>
                  </a:schemeClr>
                </a:solidFill>
              </a:rPr>
              <a:t>MEE 7012				       60 CATS</a:t>
            </a:r>
          </a:p>
          <a:p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Individual Project and Dissertation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5696" y="332656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solidFill>
                  <a:srgbClr val="040000"/>
                </a:solidFill>
              </a:rPr>
              <a:t>Date: 08/09/2026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907704" y="2132856"/>
            <a:ext cx="3427260" cy="9277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None/>
              <a:defRPr kumimoji="0" sz="1800" b="1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1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noProof="0" dirty="0"/>
              <a:t>Vipul Kohinkar</a:t>
            </a:r>
          </a:p>
          <a:p>
            <a:r>
              <a:rPr lang="en-GB" noProof="0" dirty="0"/>
              <a:t>40490839</a:t>
            </a:r>
          </a:p>
        </p:txBody>
      </p:sp>
    </p:spTree>
    <p:extLst>
      <p:ext uri="{BB962C8B-B14F-4D97-AF65-F5344CB8AC3E}">
        <p14:creationId xmlns:p14="http://schemas.microsoft.com/office/powerpoint/2010/main" val="399925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Presentation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Nomenclature</a:t>
            </a:r>
          </a:p>
          <a:p>
            <a:r>
              <a:rPr lang="en-GB" noProof="0" dirty="0"/>
              <a:t>Introduction</a:t>
            </a:r>
          </a:p>
          <a:p>
            <a:r>
              <a:rPr lang="en-GB" dirty="0"/>
              <a:t>Project Aim and Objectives</a:t>
            </a:r>
            <a:endParaRPr lang="en-GB" noProof="0" dirty="0"/>
          </a:p>
          <a:p>
            <a:r>
              <a:rPr lang="en-GB" noProof="0" dirty="0"/>
              <a:t>Methodology: Materials &amp; Manufacturing</a:t>
            </a:r>
          </a:p>
          <a:p>
            <a:r>
              <a:rPr lang="en-GB" noProof="0" dirty="0"/>
              <a:t>Methodology: Testing &amp; Analysis</a:t>
            </a:r>
          </a:p>
          <a:p>
            <a:r>
              <a:rPr lang="en-GB" noProof="0" dirty="0"/>
              <a:t>Results: Strength &amp; Stiffness</a:t>
            </a:r>
          </a:p>
          <a:p>
            <a:r>
              <a:rPr lang="en-GB" noProof="0" dirty="0"/>
              <a:t>Results: Elongation </a:t>
            </a:r>
          </a:p>
          <a:p>
            <a:r>
              <a:rPr lang="en-GB" noProof="0" dirty="0"/>
              <a:t>Discussion</a:t>
            </a:r>
          </a:p>
          <a:p>
            <a:r>
              <a:rPr lang="en-GB" noProof="0" dirty="0"/>
              <a:t>Limitations &amp; Future Work</a:t>
            </a:r>
          </a:p>
          <a:p>
            <a:r>
              <a:rPr lang="en-GB" noProof="0" dirty="0"/>
              <a:t>Conclusions</a:t>
            </a:r>
          </a:p>
          <a:p>
            <a:r>
              <a:rPr lang="en-GB" noProof="0" dirty="0"/>
              <a:t>References</a:t>
            </a:r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1574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D7471-CEBC-6CA3-8DA1-581ADDE0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3CC5-37AD-6468-4E0C-F35AF6E0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E56A-976E-1051-180B-D48E25A166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noProof="0" dirty="0"/>
              <a:t> </a:t>
            </a:r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2CC33-BFCF-2575-E38D-43E88F86E563}"/>
              </a:ext>
            </a:extLst>
          </p:cNvPr>
          <p:cNvSpPr txBox="1"/>
          <p:nvPr/>
        </p:nvSpPr>
        <p:spPr>
          <a:xfrm>
            <a:off x="1346479" y="19694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38FCA5-BC60-33E6-54D4-356305018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75666"/>
              </p:ext>
            </p:extLst>
          </p:nvPr>
        </p:nvGraphicFramePr>
        <p:xfrm>
          <a:off x="755576" y="1196752"/>
          <a:ext cx="5784292" cy="5512424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857222967"/>
                    </a:ext>
                  </a:extLst>
                </a:gridCol>
                <a:gridCol w="4056100">
                  <a:extLst>
                    <a:ext uri="{9D8B030D-6E8A-4147-A177-3AD203B41FA5}">
                      <a16:colId xmlns:a16="http://schemas.microsoft.com/office/drawing/2014/main" val="2268423188"/>
                    </a:ext>
                  </a:extLst>
                </a:gridCol>
              </a:tblGrid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noProof="0" dirty="0">
                          <a:solidFill>
                            <a:srgbClr val="040000"/>
                          </a:solidFill>
                        </a:rPr>
                        <a:t>Term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noProof="0" dirty="0">
                          <a:solidFill>
                            <a:srgbClr val="040000"/>
                          </a:solidFill>
                        </a:rPr>
                        <a:t>Full Name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04638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FDM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Fused Deposition Modelling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157958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PETG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Polyethylene Terephthalate Glycol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947227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CF-PETG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Carbon-Fibre-Reinforced PETG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055843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K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Flow-Rate Multiplier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359205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UTS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Ultimate Tensile Strength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133608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E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Young's Modulus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31271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p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p-value (statistical significance)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494313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ANOVA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Analysis of Variance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689471"/>
                  </a:ext>
                </a:extLst>
              </a:tr>
              <a:tr h="561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Tukey HSD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Tukey Honestly Significant Difference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08398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SEM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Scanning Electron Microscopy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24383"/>
                  </a:ext>
                </a:extLst>
              </a:tr>
              <a:tr h="561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ISO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International Organization for Standardization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310723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MPa / </a:t>
                      </a:r>
                      <a:r>
                        <a:rPr lang="en-GB" sz="1800" noProof="0" dirty="0" err="1">
                          <a:solidFill>
                            <a:srgbClr val="040000"/>
                          </a:solidFill>
                        </a:rPr>
                        <a:t>GPa</a:t>
                      </a:r>
                      <a:endParaRPr lang="en-GB" sz="1800" noProof="0" dirty="0">
                        <a:solidFill>
                          <a:srgbClr val="040000"/>
                        </a:solidFill>
                      </a:endParaRP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Megapascal / Gigapascal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741269"/>
                  </a:ext>
                </a:extLst>
              </a:tr>
              <a:tr h="32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MJ/m³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>
                          <a:solidFill>
                            <a:srgbClr val="040000"/>
                          </a:solidFill>
                        </a:rPr>
                        <a:t>Megajoules per cubic metre</a:t>
                      </a:r>
                    </a:p>
                  </a:txBody>
                  <a:tcPr marL="80237" marR="80237" marT="40118" marB="40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18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11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noProof="0" dirty="0"/>
              <a:t> Why investigate K-value?</a:t>
            </a:r>
          </a:p>
          <a:p>
            <a:r>
              <a:rPr lang="en-GB" noProof="0" dirty="0"/>
              <a:t>K-value controls material deposition during FDM</a:t>
            </a:r>
          </a:p>
          <a:p>
            <a:r>
              <a:rPr lang="en-GB" noProof="0" dirty="0"/>
              <a:t>K &lt; 100% – Under-extrusion → potential gaps/discontinuities</a:t>
            </a:r>
          </a:p>
          <a:p>
            <a:r>
              <a:rPr lang="en-GB" noProof="0" dirty="0"/>
              <a:t>K = 100% – Nominal deposition</a:t>
            </a:r>
          </a:p>
          <a:p>
            <a:r>
              <a:rPr lang="en-GB" noProof="0" dirty="0"/>
              <a:t>K &gt; 100% – Over-extrusion </a:t>
            </a:r>
            <a:br>
              <a:rPr lang="en-GB" noProof="0" dirty="0"/>
            </a:br>
            <a:r>
              <a:rPr lang="en-GB" noProof="0" dirty="0"/>
              <a:t>→ potential dimensional </a:t>
            </a:r>
            <a:br>
              <a:rPr lang="en-GB" noProof="0" dirty="0"/>
            </a:br>
            <a:r>
              <a:rPr lang="en-GB" noProof="0" dirty="0"/>
              <a:t>effects</a:t>
            </a:r>
          </a:p>
          <a:p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2138F-248D-2725-9C2F-E023733F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3269882"/>
            <a:ext cx="4043149" cy="31951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0DE32A-E279-1232-BC47-55641B99A1C1}"/>
              </a:ext>
            </a:extLst>
          </p:cNvPr>
          <p:cNvSpPr txBox="1"/>
          <p:nvPr/>
        </p:nvSpPr>
        <p:spPr>
          <a:xfrm>
            <a:off x="2622933" y="6446988"/>
            <a:ext cx="801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Figure. 1 Extrusion states (Huang, 2018)</a:t>
            </a:r>
          </a:p>
        </p:txBody>
      </p:sp>
    </p:spTree>
    <p:extLst>
      <p:ext uri="{BB962C8B-B14F-4D97-AF65-F5344CB8AC3E}">
        <p14:creationId xmlns:p14="http://schemas.microsoft.com/office/powerpoint/2010/main" val="6452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noProof="0" dirty="0"/>
              <a:t>Aim</a:t>
            </a:r>
          </a:p>
          <a:p>
            <a:r>
              <a:rPr lang="en-GB" noProof="0" dirty="0"/>
              <a:t>To determine how K-value and build orientation influence the tensile properties of PETG and CF-PETG, and whether the response differs between the unreinforced polymer and the fibre-reinforced composite.</a:t>
            </a:r>
          </a:p>
          <a:p>
            <a:pPr marL="0" indent="0">
              <a:buNone/>
            </a:pPr>
            <a:r>
              <a:rPr lang="en-GB" noProof="0" dirty="0"/>
              <a:t>Objectives</a:t>
            </a:r>
          </a:p>
          <a:p>
            <a:r>
              <a:rPr lang="en-US" noProof="0" dirty="0"/>
              <a:t>Review the literature on flow rate and build orientation in FDM to identify the research gap</a:t>
            </a:r>
          </a:p>
          <a:p>
            <a:r>
              <a:rPr lang="en-US" noProof="0" dirty="0"/>
              <a:t>Manufacture PETG and CF-PETG tensile specimens across four K conditions and two build orientations</a:t>
            </a:r>
          </a:p>
          <a:p>
            <a:r>
              <a:rPr lang="en-US" noProof="0" dirty="0"/>
              <a:t>Determine UTS, Young's modulus, elongation at break and toughness for each condition</a:t>
            </a:r>
          </a:p>
          <a:p>
            <a:r>
              <a:rPr lang="en-US" noProof="0" dirty="0"/>
              <a:t>Examine surface and fracture morphology using optical microscopy</a:t>
            </a:r>
          </a:p>
          <a:p>
            <a:r>
              <a:rPr lang="en-US" noProof="0" dirty="0"/>
              <a:t>Evaluate the combined effect of flow rate and build orientation on tensile performance</a:t>
            </a:r>
          </a:p>
        </p:txBody>
      </p:sp>
    </p:spTree>
    <p:extLst>
      <p:ext uri="{BB962C8B-B14F-4D97-AF65-F5344CB8AC3E}">
        <p14:creationId xmlns:p14="http://schemas.microsoft.com/office/powerpoint/2010/main" val="88224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Methodology: Materials &amp;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PETG vs 20% carbon-fibre-reinforced PETG (CARBON-P) – RS PRO filaments</a:t>
            </a:r>
          </a:p>
          <a:p>
            <a:r>
              <a:rPr lang="en-GB" noProof="0" dirty="0"/>
              <a:t>Printed on </a:t>
            </a:r>
            <a:r>
              <a:rPr lang="en-GB" noProof="0" dirty="0" err="1"/>
              <a:t>Ultimaker</a:t>
            </a:r>
            <a:r>
              <a:rPr lang="en-GB" noProof="0" dirty="0"/>
              <a:t> S5 via Cura, material-specific nozzle sizes and temperatures.</a:t>
            </a:r>
          </a:p>
          <a:p>
            <a:r>
              <a:rPr lang="en-GB" noProof="0" dirty="0"/>
              <a:t>Fixed parameters: 0.2mm layer height, 100% infill, 40mm/s (following Patel et al., 2024)</a:t>
            </a:r>
          </a:p>
          <a:p>
            <a:r>
              <a:rPr lang="en-GB" noProof="0" dirty="0"/>
              <a:t>Design of Experiments:</a:t>
            </a:r>
          </a:p>
          <a:p>
            <a:pPr marL="0" indent="0">
              <a:buNone/>
            </a:pPr>
            <a:endParaRPr lang="en-GB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6A9C12-AC29-6601-E559-97EB19F0F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79303"/>
              </p:ext>
            </p:extLst>
          </p:nvPr>
        </p:nvGraphicFramePr>
        <p:xfrm>
          <a:off x="1223628" y="3962527"/>
          <a:ext cx="6480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636671889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326751899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142499191"/>
                    </a:ext>
                  </a:extLst>
                </a:gridCol>
              </a:tblGrid>
              <a:tr h="304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702155"/>
                  </a:ext>
                </a:extLst>
              </a:tr>
              <a:tr h="351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PETG, CF-PETG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162507"/>
                  </a:ext>
                </a:extLst>
              </a:tr>
              <a:tr h="533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K-Value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80%, 90%, 100%, 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800347"/>
                  </a:ext>
                </a:extLst>
              </a:tr>
              <a:tr h="76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Orientation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Flat, On-edge </a:t>
                      </a:r>
                      <a:r>
                        <a:rPr lang="en-GB" i="1" noProof="0" dirty="0"/>
                        <a:t>(</a:t>
                      </a:r>
                      <a:r>
                        <a:rPr lang="en-GB" i="1" noProof="0" dirty="0" err="1"/>
                        <a:t>Faidallah</a:t>
                      </a:r>
                      <a:r>
                        <a:rPr lang="en-GB" i="1" noProof="0" dirty="0"/>
                        <a:t> et al., 2023)</a:t>
                      </a:r>
                      <a:endParaRPr lang="en-GB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613049"/>
                  </a:ext>
                </a:extLst>
              </a:tr>
              <a:tr h="351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noProof="0" dirty="0"/>
                        <a:t>Total conditions</a:t>
                      </a:r>
                      <a:endParaRPr lang="en-GB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noProof="0" dirty="0"/>
                        <a:t>2 × 4 ×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noProof="0" dirty="0"/>
                        <a:t>16</a:t>
                      </a:r>
                      <a:endParaRPr lang="en-GB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870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79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61FE46-A1C0-EA54-2B34-E3C9A3FB0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9" y="1676492"/>
            <a:ext cx="8041222" cy="35050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ED5A09-63AC-75BD-EA01-AFA477A618A8}"/>
              </a:ext>
            </a:extLst>
          </p:cNvPr>
          <p:cNvSpPr txBox="1"/>
          <p:nvPr/>
        </p:nvSpPr>
        <p:spPr>
          <a:xfrm>
            <a:off x="456166" y="5181507"/>
            <a:ext cx="823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Figure. 2  Specimen batches printed in (</a:t>
            </a:r>
            <a:r>
              <a:rPr lang="en-GB" sz="1600" b="1" noProof="0" dirty="0"/>
              <a:t>a</a:t>
            </a:r>
            <a:r>
              <a:rPr lang="en-GB" sz="1600" noProof="0" dirty="0"/>
              <a:t>) flat orientation and (</a:t>
            </a:r>
            <a:r>
              <a:rPr lang="en-GB" sz="1600" b="1" noProof="0" dirty="0"/>
              <a:t>b</a:t>
            </a:r>
            <a:r>
              <a:rPr lang="en-GB" sz="1600" noProof="0" dirty="0"/>
              <a:t>) on-edge orientation.</a:t>
            </a:r>
          </a:p>
        </p:txBody>
      </p:sp>
    </p:spTree>
    <p:extLst>
      <p:ext uri="{BB962C8B-B14F-4D97-AF65-F5344CB8AC3E}">
        <p14:creationId xmlns:p14="http://schemas.microsoft.com/office/powerpoint/2010/main" val="264845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268C-357B-36FB-8913-17420EEF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7710-5BFC-2346-2566-D7CFD1CE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Methodology: Testing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96CD2-C717-470B-71A1-5A85FD3972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b="1" noProof="0" dirty="0"/>
              <a:t>Tensile Testing</a:t>
            </a:r>
          </a:p>
          <a:p>
            <a:pPr>
              <a:spcAft>
                <a:spcPts val="600"/>
              </a:spcAft>
            </a:pPr>
            <a:r>
              <a:rPr lang="en-GB" noProof="0" dirty="0"/>
              <a:t>Stage 1: Extensometer → Young's modulus (to 0.5% strain)</a:t>
            </a:r>
          </a:p>
          <a:p>
            <a:pPr>
              <a:spcAft>
                <a:spcPts val="1200"/>
              </a:spcAft>
            </a:pPr>
            <a:r>
              <a:rPr lang="en-GB" noProof="0" dirty="0"/>
              <a:t>Stage 2: Crosshead → pull to failure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noProof="0" dirty="0"/>
              <a:t>Data Processing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Measured dimensions → engineering stress-strain → E | UTS | Elongation | Toughness → Three-way ANOVA → Tukey HSD</a:t>
            </a:r>
          </a:p>
          <a:p>
            <a:pPr>
              <a:spcAft>
                <a:spcPts val="1200"/>
              </a:spcAft>
            </a:pPr>
            <a:r>
              <a:rPr lang="en-GB" noProof="0" dirty="0"/>
              <a:t>Failure mode classified via 35.5% elongation threshold (k-means derived)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noProof="0" dirty="0"/>
              <a:t>Microscopy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Optical microscopy (Nikon SMZ800) – surface and fracture morphology</a:t>
            </a:r>
          </a:p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56675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7F96-9B67-2F67-8F87-C47AD354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A3F3A0-F40B-395E-2B8F-76709DAC4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0" y="1377188"/>
            <a:ext cx="7537379" cy="410362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B1E28D-E5C6-B16C-D699-3201ABA1A273}"/>
              </a:ext>
            </a:extLst>
          </p:cNvPr>
          <p:cNvSpPr txBox="1"/>
          <p:nvPr/>
        </p:nvSpPr>
        <p:spPr>
          <a:xfrm>
            <a:off x="456165" y="5661248"/>
            <a:ext cx="823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Figure. 3  Pre-test surface morphology – (a) PETG grip, (b) PETG gauge, (c) CF-PETG grip, (d) CF-PETG gauge</a:t>
            </a:r>
          </a:p>
        </p:txBody>
      </p:sp>
    </p:spTree>
    <p:extLst>
      <p:ext uri="{BB962C8B-B14F-4D97-AF65-F5344CB8AC3E}">
        <p14:creationId xmlns:p14="http://schemas.microsoft.com/office/powerpoint/2010/main" val="311303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 Strength &amp; Stiffness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1AB20-0DA0-0261-04CF-5B16013DA05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3528" y="980728"/>
            <a:ext cx="8352928" cy="5422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3C8918-EB67-C90E-8B61-7B597816C6F8}"/>
              </a:ext>
            </a:extLst>
          </p:cNvPr>
          <p:cNvSpPr txBox="1"/>
          <p:nvPr/>
        </p:nvSpPr>
        <p:spPr>
          <a:xfrm>
            <a:off x="444789" y="6290974"/>
            <a:ext cx="8231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Figure. 4 Mean UTS vs K– Flat vs On-edge</a:t>
            </a:r>
          </a:p>
        </p:txBody>
      </p:sp>
    </p:spTree>
    <p:extLst>
      <p:ext uri="{BB962C8B-B14F-4D97-AF65-F5344CB8AC3E}">
        <p14:creationId xmlns:p14="http://schemas.microsoft.com/office/powerpoint/2010/main" val="2026856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AB435-B42E-E405-8F0A-E513609C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CEA7-1619-211D-EB6C-9FAFA33B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 Strength &amp; Stiffness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A3D5A-0F5F-A739-95EA-8C7F7EB8F96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CF-PETG: lowest at K=100% flat (~62 MPa), highest at K=110% on-edge (~75 MPa) – K110 significantly higher than K80/90/100 (all p&lt;0.001)</a:t>
            </a:r>
          </a:p>
          <a:p>
            <a:r>
              <a:rPr lang="en-GB" noProof="0" dirty="0"/>
              <a:t>PETG: stayed narrow (~62–63 MPa flat), no significant pairwise K differences</a:t>
            </a:r>
          </a:p>
          <a:p>
            <a:r>
              <a:rPr lang="en-GB" noProof="0" dirty="0"/>
              <a:t>CF-PETG modulus roughly double PETG's (~4.6–6.0 </a:t>
            </a:r>
            <a:r>
              <a:rPr lang="en-GB" noProof="0" dirty="0" err="1"/>
              <a:t>GPa</a:t>
            </a:r>
            <a:r>
              <a:rPr lang="en-GB" noProof="0" dirty="0"/>
              <a:t> vs ~2.0–2.3 </a:t>
            </a:r>
            <a:r>
              <a:rPr lang="en-GB" noProof="0" dirty="0" err="1"/>
              <a:t>GPa</a:t>
            </a:r>
            <a:r>
              <a:rPr lang="en-GB" noProof="0" dirty="0"/>
              <a:t>), but barely shifted with K – K affects strength far more than stiffness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93828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9C23-5B60-7D67-997A-91993031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2E1B-7AB8-1F5B-84F4-ADF372F8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 Elongation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A9250-4819-B1F9-0066-8AFDD7D46232}"/>
              </a:ext>
            </a:extLst>
          </p:cNvPr>
          <p:cNvSpPr txBox="1"/>
          <p:nvPr/>
        </p:nvSpPr>
        <p:spPr>
          <a:xfrm>
            <a:off x="444789" y="6290974"/>
            <a:ext cx="8231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Figure. 5 Elongation at Break vs K– Flat vs On-edge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A4B25A1-B180-7E3D-289D-05FBB2453EE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31299" y="1052737"/>
            <a:ext cx="8424935" cy="523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89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3D65-BF2B-24F9-9A3F-A6540D4D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43C6-9C08-D704-2B8C-C72EDE6F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 Elongation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FFDA8-0AE5-2960-7602-CA5C0B7456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CF-PETG: consistently ~3% median elongation across all K-values and both orientations</a:t>
            </a:r>
          </a:p>
          <a:p>
            <a:r>
              <a:rPr lang="en-GB" noProof="0" dirty="0"/>
              <a:t>PETG: highly variable – flat orientation stays low (~4%) at K=80/90, then jumps sharply to ~85% median at K=100, before dropping to ~25% at K=110</a:t>
            </a:r>
          </a:p>
          <a:p>
            <a:r>
              <a:rPr lang="en-GB" noProof="0" dirty="0"/>
              <a:t>On-edge PETG stays more stable (~18–22%) before rising to ~45% at K=110</a:t>
            </a:r>
          </a:p>
          <a:p>
            <a:r>
              <a:rPr lang="en-GB" b="1" noProof="0" dirty="0"/>
              <a:t>Elongation</a:t>
            </a:r>
            <a:r>
              <a:rPr lang="en-GB" noProof="0" dirty="0"/>
              <a:t>: Material p&lt;0.001, Material × K × Orientation p=0.008</a:t>
            </a:r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50933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052736"/>
            <a:ext cx="8424936" cy="5805264"/>
          </a:xfrm>
        </p:spPr>
        <p:txBody>
          <a:bodyPr>
            <a:normAutofit/>
          </a:bodyPr>
          <a:lstStyle/>
          <a:p>
            <a:r>
              <a:rPr lang="en-GB" noProof="0" dirty="0"/>
              <a:t>K's effect is not universal – it depends on which material and which mechanical property you're looking at</a:t>
            </a:r>
          </a:p>
          <a:p>
            <a:r>
              <a:rPr lang="en-GB" noProof="0" dirty="0"/>
              <a:t>For CF-PETG, higher flow likely improves how well adjacent extrusion paths bond, reducing the small gaps visible in this surface image – a plausible driver of the K110 strength increase</a:t>
            </a:r>
          </a:p>
          <a:p>
            <a:r>
              <a:rPr lang="en-GB" noProof="0" dirty="0"/>
              <a:t>For PETG, K's influence shows up differently – not in strength, but in which failure mode a specimen ends up in, brittle or extensive drawing</a:t>
            </a:r>
          </a:p>
          <a:p>
            <a:r>
              <a:rPr lang="en-GB" b="1" noProof="0" dirty="0"/>
              <a:t>Note</a:t>
            </a:r>
            <a:r>
              <a:rPr lang="en-GB" noProof="0" dirty="0"/>
              <a:t>: microscopy evidence is qualitative – it shows the irregularities exist, not that K caused them systematically</a:t>
            </a:r>
          </a:p>
        </p:txBody>
      </p:sp>
    </p:spTree>
    <p:extLst>
      <p:ext uri="{BB962C8B-B14F-4D97-AF65-F5344CB8AC3E}">
        <p14:creationId xmlns:p14="http://schemas.microsoft.com/office/powerpoint/2010/main" val="1179461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9462-70E8-6DDA-0A4C-E7B8A912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CF6D70-EA85-2D22-1BF3-1F371C5F6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08" y="1108549"/>
            <a:ext cx="5768579" cy="37202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15A762-826C-E998-CCAC-9A5B077A71F6}"/>
              </a:ext>
            </a:extLst>
          </p:cNvPr>
          <p:cNvSpPr txBox="1"/>
          <p:nvPr/>
        </p:nvSpPr>
        <p:spPr>
          <a:xfrm>
            <a:off x="456163" y="5013176"/>
            <a:ext cx="8231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Figure. 6  CF-PETG surface showing local deposition irregularities.</a:t>
            </a:r>
          </a:p>
        </p:txBody>
      </p:sp>
    </p:spTree>
    <p:extLst>
      <p:ext uri="{BB962C8B-B14F-4D97-AF65-F5344CB8AC3E}">
        <p14:creationId xmlns:p14="http://schemas.microsoft.com/office/powerpoint/2010/main" val="3697869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E1B8A-3212-9577-8150-CA297D9E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B5F1-91B7-6288-F3A9-8A396566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BCB5-9534-E1A8-E07B-6574FF6568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noProof="0" dirty="0"/>
              <a:t>Limitations:</a:t>
            </a:r>
          </a:p>
          <a:p>
            <a:r>
              <a:rPr lang="en-GB" noProof="0" dirty="0"/>
              <a:t>Limited K range – only 80–110% investigated, limiting identification of a global optimum</a:t>
            </a:r>
          </a:p>
          <a:p>
            <a:r>
              <a:rPr lang="en-GB" noProof="0" dirty="0"/>
              <a:t>Standardised tensile geometry – results may not transfer directly to complex components</a:t>
            </a:r>
          </a:p>
          <a:p>
            <a:r>
              <a:rPr lang="en-GB" noProof="0" dirty="0"/>
              <a:t>Qualitative microscopy – defects could not be quantitatively measured or directly linked to K-value</a:t>
            </a:r>
          </a:p>
          <a:p>
            <a:pPr marL="0" indent="0">
              <a:buNone/>
            </a:pPr>
            <a:r>
              <a:rPr lang="en-GB" b="1" noProof="0" dirty="0"/>
              <a:t>Future Work:</a:t>
            </a:r>
          </a:p>
          <a:p>
            <a:r>
              <a:rPr lang="en-GB" noProof="0" dirty="0"/>
              <a:t>Finer K sweep around high-performing conditions</a:t>
            </a:r>
          </a:p>
          <a:p>
            <a:r>
              <a:rPr lang="en-GB" noProof="0" dirty="0"/>
              <a:t>Testing on complex, practical geometries</a:t>
            </a:r>
          </a:p>
          <a:p>
            <a:r>
              <a:rPr lang="en-GB" noProof="0" dirty="0"/>
              <a:t>Quantitative defect analysis (SEM, porosity measurement)</a:t>
            </a:r>
          </a:p>
          <a:p>
            <a:r>
              <a:rPr lang="en-GB" noProof="0" dirty="0"/>
              <a:t>Manufacturing efficiency: material, print time, and energy use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47009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Literature review identified K as an underexplored parameter, particularly for reinforced composites – this project </a:t>
            </a:r>
            <a:r>
              <a:rPr lang="en-US"/>
              <a:t>investigated</a:t>
            </a:r>
            <a:r>
              <a:rPr lang="en-US" noProof="0"/>
              <a:t> </a:t>
            </a:r>
            <a:r>
              <a:rPr lang="en-US" noProof="0" dirty="0"/>
              <a:t>that gap</a:t>
            </a:r>
          </a:p>
          <a:p>
            <a:r>
              <a:rPr lang="en-US" noProof="0" dirty="0"/>
              <a:t>80 specimens manufactured and tested across 16 conditions, evaluating UTS, modulus, elongation, toughness and fracture morphology</a:t>
            </a:r>
          </a:p>
          <a:p>
            <a:r>
              <a:rPr lang="en-US" noProof="0" dirty="0"/>
              <a:t>CF-PETG: substantially stiffer than PETG, clearest K-response in UTS – K=110% significantly higher than K=80/90/100% (p&lt;0.001)</a:t>
            </a:r>
          </a:p>
          <a:p>
            <a:r>
              <a:rPr lang="en-US" noProof="0" dirty="0"/>
              <a:t>Orientation mattered differently by material – PETG weaker on-edge, CF-PETG stiffer on-edge</a:t>
            </a:r>
          </a:p>
          <a:p>
            <a:r>
              <a:rPr lang="en-US" noProof="0" dirty="0"/>
              <a:t>No universal "higher K = better" rule – K selection should be material- and property-specific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8799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sz="1800" noProof="0" dirty="0"/>
              <a:t>FAIDALLAH, R. F., HANON, M. M., VASHIST, V., HABIB, A., SZAKAL, Z. &amp; OLDAL, I. 2023. Effect of Different Standard Geometry Shapes on the Tensile Properties of 3D-Printed Polymer. </a:t>
            </a:r>
            <a:r>
              <a:rPr lang="en-GB" sz="1800" i="1" noProof="0" dirty="0"/>
              <a:t>Polymers (Basel),</a:t>
            </a:r>
            <a:r>
              <a:rPr lang="en-GB" sz="1800" noProof="0" dirty="0"/>
              <a:t> 15.</a:t>
            </a:r>
          </a:p>
          <a:p>
            <a:r>
              <a:rPr lang="en-GB" sz="1800" noProof="0" dirty="0"/>
              <a:t>HUANG, C. Y. 2018. </a:t>
            </a:r>
            <a:r>
              <a:rPr lang="en-GB" sz="1800" i="1" noProof="0" dirty="0"/>
              <a:t>Extrusion-based 3D Printing and Characterization of Edible Materials.</a:t>
            </a:r>
            <a:r>
              <a:rPr lang="en-GB" sz="1800" noProof="0" dirty="0"/>
              <a:t> Master of Applied Science, University of Waterloo.</a:t>
            </a:r>
          </a:p>
          <a:p>
            <a:r>
              <a:rPr lang="en-GB" sz="1800" noProof="0" dirty="0"/>
              <a:t>PATEL, K. S., SHAH, D. B., JOSHI, S. J., ALDAWOOD, F. K. &amp; KCHAOU, M. 2024. Effect of process parameters on the mechanical performance of FDM printed carbon </a:t>
            </a:r>
            <a:r>
              <a:rPr lang="en-GB" sz="1800" noProof="0" dirty="0" err="1"/>
              <a:t>fiber</a:t>
            </a:r>
            <a:r>
              <a:rPr lang="en-GB" sz="1800" noProof="0" dirty="0"/>
              <a:t> reinforced PETG. </a:t>
            </a:r>
            <a:r>
              <a:rPr lang="en-GB" sz="1800" i="1" noProof="0" dirty="0"/>
              <a:t>Journal of Materials Research and Technology,</a:t>
            </a:r>
            <a:r>
              <a:rPr lang="en-GB" sz="1800" noProof="0" dirty="0"/>
              <a:t> 30</a:t>
            </a:r>
            <a:r>
              <a:rPr lang="en-GB" sz="1800" b="1" noProof="0" dirty="0"/>
              <a:t>,</a:t>
            </a:r>
            <a:r>
              <a:rPr lang="en-GB" sz="1800" noProof="0" dirty="0"/>
              <a:t> 8006–8018.</a:t>
            </a:r>
          </a:p>
          <a:p>
            <a:endParaRPr lang="en-GB" b="1" noProof="0" dirty="0"/>
          </a:p>
        </p:txBody>
      </p:sp>
    </p:spTree>
    <p:extLst>
      <p:ext uri="{BB962C8B-B14F-4D97-AF65-F5344CB8AC3E}">
        <p14:creationId xmlns:p14="http://schemas.microsoft.com/office/powerpoint/2010/main" val="3078689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QUB">
      <a:dk1>
        <a:srgbClr val="C1131E"/>
      </a:dk1>
      <a:lt1>
        <a:srgbClr val="FFFFFF"/>
      </a:lt1>
      <a:dk2>
        <a:srgbClr val="FFFFFF"/>
      </a:dk2>
      <a:lt2>
        <a:srgbClr val="808080"/>
      </a:lt2>
      <a:accent1>
        <a:srgbClr val="C1131E"/>
      </a:accent1>
      <a:accent2>
        <a:srgbClr val="000084"/>
      </a:accent2>
      <a:accent3>
        <a:srgbClr val="FFFFFF"/>
      </a:accent3>
      <a:accent4>
        <a:srgbClr val="A40E18"/>
      </a:accent4>
      <a:accent5>
        <a:srgbClr val="DDAAAB"/>
      </a:accent5>
      <a:accent6>
        <a:srgbClr val="000077"/>
      </a:accent6>
      <a:hlink>
        <a:srgbClr val="FFA400"/>
      </a:hlink>
      <a:folHlink>
        <a:srgbClr val="B2B2B2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5DF96C665DDC479F41C4D156883C86" ma:contentTypeVersion="0" ma:contentTypeDescription="Create a new document." ma:contentTypeScope="" ma:versionID="6bd62efe52c4381e8f53e3a5fd88c99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0CEB43-3453-4922-8BC2-7455A64DD0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FE851C-DD4A-45F6-BE2A-D94CFE8543E2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368FE9D-8563-4037-82FE-4C87F7C538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3375</TotalTime>
  <Words>1122</Words>
  <Application>Microsoft Office PowerPoint</Application>
  <PresentationFormat>On-screen Show (4:3)</PresentationFormat>
  <Paragraphs>135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Century Schoolbook</vt:lpstr>
      <vt:lpstr>Wingdings</vt:lpstr>
      <vt:lpstr>Wingdings 2</vt:lpstr>
      <vt:lpstr>Oriel</vt:lpstr>
      <vt:lpstr>3D Printing Parameter Optimisation: Impact of K-Value on Carbon-Reinforced PETG</vt:lpstr>
      <vt:lpstr>Presentation Structure</vt:lpstr>
      <vt:lpstr>Nomenclature</vt:lpstr>
      <vt:lpstr>Introduction</vt:lpstr>
      <vt:lpstr>Project Aim</vt:lpstr>
      <vt:lpstr>Methodology: Materials &amp; Manufacturing</vt:lpstr>
      <vt:lpstr>PowerPoint Presentation</vt:lpstr>
      <vt:lpstr>Methodology: Testing &amp; Analysis</vt:lpstr>
      <vt:lpstr>PowerPoint Presentation</vt:lpstr>
      <vt:lpstr>Results: Strength &amp; Stiffness</vt:lpstr>
      <vt:lpstr>Results: Strength &amp; Stiffness</vt:lpstr>
      <vt:lpstr>Results: Elongation</vt:lpstr>
      <vt:lpstr>Results: Elongation</vt:lpstr>
      <vt:lpstr>Discussion</vt:lpstr>
      <vt:lpstr>PowerPoint Presentation</vt:lpstr>
      <vt:lpstr>Limitations &amp; Future Work</vt:lpstr>
      <vt:lpstr>Conclusions</vt:lpstr>
      <vt:lpstr>References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Fee</dc:creator>
  <cp:lastModifiedBy>Vipul Kohinkar</cp:lastModifiedBy>
  <cp:revision>213</cp:revision>
  <cp:lastPrinted>2015-10-20T11:18:48Z</cp:lastPrinted>
  <dcterms:created xsi:type="dcterms:W3CDTF">2014-01-28T12:50:45Z</dcterms:created>
  <dcterms:modified xsi:type="dcterms:W3CDTF">2026-09-07T21:58:06Z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0x010100765DF96C665DDC479F41C4D156883C86</vt:lpwstr>
  </property>
</Properties>
</file>